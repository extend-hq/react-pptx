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411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0"/>
                </a:solidFill>
              </a:rPr>
              <a:t>TEXT LAYOUT DIAGNOSTIC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84048" y="246888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11111"/>
                </a:solidFill>
              </a:rPr>
              <a:t>Pretext layout</a:t>
            </a:r>
            <a:endParaRPr lang="en-US" sz="4400" dirty="0"/>
          </a:p>
          <a:p>
            <a:pPr indent="0" marL="0">
              <a:buNone/>
            </a:pPr>
            <a:r>
              <a:rPr lang="en-US" sz="4400" dirty="0">
                <a:solidFill>
                  <a:srgbClr val="111111"/>
                </a:solidFill>
              </a:rPr>
              <a:t>stress deck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84048" y="470916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</a:rPr>
              <a:t>Eight focused cases for justification, run boundaries, tabs, hanging indents, scripts, columns, and autofit.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280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PRETEXT LAYOUT FIXTURE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11292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Justification exposes the word-spacing gap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84048" y="1664208"/>
            <a:ext cx="5440680" cy="4114800"/>
          </a:xfrm>
          <a:prstGeom prst="roundRect">
            <a:avLst>
              <a:gd name="adj" fmla="val 1333"/>
            </a:avLst>
          </a:prstGeom>
          <a:solidFill>
            <a:srgbClr val="F5F7F9"/>
          </a:solidFill>
          <a:ln w="10160">
            <a:solidFill>
              <a:srgbClr val="C2C8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27648" y="1664208"/>
            <a:ext cx="5440680" cy="4114800"/>
          </a:xfrm>
          <a:prstGeom prst="roundRect">
            <a:avLst>
              <a:gd name="adj" fmla="val 1333"/>
            </a:avLst>
          </a:prstGeom>
          <a:solidFill>
            <a:srgbClr val="F5F7F9"/>
          </a:solidFill>
          <a:ln w="10160">
            <a:solidFill>
              <a:srgbClr val="C2C8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87FF"/>
                </a:solidFill>
              </a:rPr>
              <a:t>JUSTIFIED — algn=just</a:t>
            </a:r>
            <a:endParaRPr lang="en-US" sz="1000" dirty="0"/>
          </a:p>
        </p:txBody>
      </p:sp>
      <p:sp>
        <p:nvSpPr>
          <p:cNvPr id="7" name="JustifiedText"/>
          <p:cNvSpPr/>
          <p:nvPr/>
        </p:nvSpPr>
        <p:spPr>
          <a:xfrm>
            <a:off x="612648" y="2395728"/>
            <a:ext cx="4983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just">
              <a:buNone/>
            </a:pPr>
            <a:r>
              <a:rPr lang="en-US" sz="1600" dirty="0">
                <a:solidFill>
                  <a:srgbClr val="111111"/>
                </a:solidFill>
              </a:rPr>
              <a:t>PowerPoint lays out a paragraph by combining the selected font, kerning, line-breaking rules, and the available width. When a line is justified, the remaining width is distributed across eligible spaces. Small metric differences accumulate across a sentence, changing both the final word position and the next wrap point.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56248" y="19202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87FF"/>
                </a:solidFill>
              </a:rPr>
              <a:t>DISTRIBUTED — algn=dist</a:t>
            </a:r>
            <a:endParaRPr lang="en-US" sz="1000" dirty="0"/>
          </a:p>
        </p:txBody>
      </p:sp>
      <p:sp>
        <p:nvSpPr>
          <p:cNvPr id="9" name="DistributedText"/>
          <p:cNvSpPr/>
          <p:nvPr/>
        </p:nvSpPr>
        <p:spPr>
          <a:xfrm>
            <a:off x="6556248" y="2395728"/>
            <a:ext cx="4983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dist">
              <a:buNone/>
            </a:pPr>
            <a:r>
              <a:rPr lang="en-US" sz="1600" dirty="0">
                <a:solidFill>
                  <a:srgbClr val="111111"/>
                </a:solidFill>
              </a:rPr>
              <a:t>PowerPoint lays out a paragraph by combining the selected font, kerning, line-breaking rules, and the available width. When a line is justified, the remaining width is distributed across eligible spaces. Small metric differences accumulate across a sentence, changing both the final word position and the next wrap point.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567160" y="651052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0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280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PRETEXT LAYOUT FIXTURE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11292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Formatting runs should not move the words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84048" y="1645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0"/>
                </a:solidFill>
              </a:rPr>
              <a:t>ONE UNIFORM RUN</a:t>
            </a:r>
            <a:endParaRPr lang="en-US" sz="1000" dirty="0"/>
          </a:p>
        </p:txBody>
      </p:sp>
      <p:sp>
        <p:nvSpPr>
          <p:cNvPr id="5" name="UniformRuns"/>
          <p:cNvSpPr/>
          <p:nvPr/>
        </p:nvSpPr>
        <p:spPr>
          <a:xfrm>
            <a:off x="384048" y="2121408"/>
            <a:ext cx="5166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700" dirty="0" kern="1200" spc="75" lang="en-US">
                <a:solidFill>
                  <a:srgbClr val="111111"/>
                </a:solidFill>
              </a:rPr>
              <a:t>PowerPoint lays out a paragraph by combining the selected font, kerning, line-breaking rules, and the available width. When a line is justified, the remaining width is distributed across eligible spaces. Small metric differences accumulate across a sentence, changing both the final word position and the next wrap point.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245352" y="1645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0"/>
                </a:solidFill>
              </a:rPr>
              <a:t>EQUIVALENT TEXT SPLIT ACROSS RUNS</a:t>
            </a:r>
            <a:endParaRPr lang="en-US" sz="1000" dirty="0"/>
          </a:p>
        </p:txBody>
      </p:sp>
      <p:sp>
        <p:nvSpPr>
          <p:cNvPr id="7" name="SplitRuns"/>
          <p:cNvSpPr/>
          <p:nvPr/>
        </p:nvSpPr>
        <p:spPr>
          <a:xfrm>
            <a:off x="6245352" y="2121408"/>
            <a:ext cx="5166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700" b="1" dirty="0" kern="1200" spc="75" lang="en-US">
                <a:solidFill>
                  <a:srgbClr val="111111"/>
                </a:solidFill>
              </a:rPr>
              <a:t>PowerPoint </a:t>
            </a:r>
            <a:pPr indent="0" marL="0">
              <a:buNone/>
            </a:pPr>
            <a:r>
              <a:rPr sz="1700" dirty="0" kern="1200" spc="75" lang="en-US">
                <a:solidFill>
                  <a:srgbClr val="111111"/>
                </a:solidFill>
              </a:rPr>
              <a:t>should preserve </a:t>
            </a:r>
            <a:pPr indent="0" marL="0">
              <a:buNone/>
            </a:pPr>
            <a:r>
              <a:rPr sz="1700" i="1" dirty="0" kern="1200" spc="75" lang="en-US">
                <a:solidFill>
                  <a:srgbClr val="111111"/>
                </a:solidFill>
              </a:rPr>
              <a:t>identical wrap points </a:t>
            </a:r>
            <a:pPr indent="0" marL="0">
              <a:buNone/>
            </a:pPr>
            <a:r>
              <a:rPr sz="1700" dirty="0" kern="1200" spc="75" lang="en-US">
                <a:solidFill>
                  <a:srgbClr val="111111"/>
                </a:solidFill>
              </a:rPr>
              <a:t>even when an otherwise uniform sentence is split into many formatting runs. </a:t>
            </a:r>
            <a:pPr indent="0" marL="0">
              <a:buNone/>
            </a:pPr>
            <a:r>
              <a:rPr sz="1700" b="1" dirty="0" kern="1200" spc="75" lang="en-US">
                <a:solidFill>
                  <a:srgbClr val="111111"/>
                </a:solidFill>
              </a:rPr>
              <a:t>Boundaries </a:t>
            </a:r>
            <a:pPr indent="0" marL="0">
              <a:buNone/>
            </a:pPr>
            <a:r>
              <a:rPr sz="1700" dirty="0" kern="1200" spc="75" lang="en-US">
                <a:solidFill>
                  <a:srgbClr val="111111"/>
                </a:solidFill>
              </a:rPr>
              <a:t>introduced for emphasis, hyperlinks, or language metadata must not create extra spacing.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567160" y="651052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0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280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PRETEXT LAYOUT FIXTURE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11292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Tabs and hanging indents require paragraph geometry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84048" y="1627632"/>
            <a:ext cx="7223760" cy="4206240"/>
          </a:xfrm>
          <a:prstGeom prst="roundRect">
            <a:avLst>
              <a:gd name="adj" fmla="val 1304"/>
            </a:avLst>
          </a:prstGeom>
          <a:solidFill>
            <a:srgbClr val="F5F7F9"/>
          </a:solidFill>
          <a:ln w="10160">
            <a:solidFill>
              <a:srgbClr val="C2C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901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87FF"/>
                </a:solidFill>
              </a:rPr>
              <a:t>EXPLICIT TAB STOPS — 1.35 in / 3.00 in / 4.70 in</a:t>
            </a:r>
            <a:endParaRPr lang="en-US" sz="1000" dirty="0"/>
          </a:p>
        </p:txBody>
      </p:sp>
      <p:sp>
        <p:nvSpPr>
          <p:cNvPr id="6" name="ExplicitTabs"/>
          <p:cNvSpPr/>
          <p:nvPr/>
        </p:nvSpPr>
        <p:spPr>
          <a:xfrm>
            <a:off x="658368" y="2395728"/>
            <a:ext cx="6629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defTabSz="914400">
              <a:tabLst>
                <a:tab pos="1234440" algn="l"/>
                <a:tab pos="2743200" algn="l"/>
                <a:tab pos="4297680" algn="l"/>
              </a:tabLst>
              <a:buNone/>
            </a:pPr>
            <a:r>
              <a:rPr lang="en-US" sz="1600" dirty="0">
                <a:solidFill>
                  <a:srgbClr val="111111"/>
                </a:solidFill>
              </a:rPr>
              <a:t>Item	Owner	Status</a:t>
            </a:r>
            <a:endParaRPr lang="en-US" sz="1600" dirty="0"/>
          </a:p>
          <a:p>
            <a:pPr indent="0" marL="0" defTabSz="914400">
              <a:tabLst>
                <a:tab pos="1234440" algn="l"/>
                <a:tab pos="2743200" algn="l"/>
                <a:tab pos="4297680" algn="l"/>
              </a:tabLst>
              <a:buNone/>
            </a:pPr>
            <a:r>
              <a:rPr lang="en-US" sz="1600" dirty="0">
                <a:solidFill>
                  <a:srgbClr val="111111"/>
                </a:solidFill>
              </a:rPr>
              <a:t>Text measurement	Layout engine	In progress</a:t>
            </a:r>
            <a:endParaRPr lang="en-US" sz="1600" dirty="0"/>
          </a:p>
          <a:p>
            <a:pPr indent="0" marL="0" defTabSz="914400">
              <a:tabLst>
                <a:tab pos="1234440" algn="l"/>
                <a:tab pos="2743200" algn="l"/>
                <a:tab pos="4297680" algn="l"/>
              </a:tabLst>
              <a:buNone/>
            </a:pPr>
            <a:r>
              <a:rPr lang="en-US" sz="1600" dirty="0">
                <a:solidFill>
                  <a:srgbClr val="111111"/>
                </a:solidFill>
              </a:rPr>
              <a:t>Script font selection	Font resolver	Planned</a:t>
            </a:r>
            <a:endParaRPr lang="en-US" sz="1600" dirty="0"/>
          </a:p>
          <a:p>
            <a:pPr indent="0" marL="0" defTabSz="914400">
              <a:tabLst>
                <a:tab pos="1234440" algn="l"/>
                <a:tab pos="2743200" algn="l"/>
                <a:tab pos="4297680" algn="l"/>
              </a:tabLst>
              <a:buNone/>
            </a:pPr>
            <a:r>
              <a:rPr lang="en-US" sz="1600" dirty="0">
                <a:solidFill>
                  <a:srgbClr val="111111"/>
                </a:solidFill>
              </a:rPr>
              <a:t>PowerPoint oracle	Oracle export	Ready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28432" y="19019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87FF"/>
                </a:solidFill>
              </a:rPr>
              <a:t>HANGING INDENT</a:t>
            </a:r>
            <a:endParaRPr lang="en-US" sz="1000" dirty="0"/>
          </a:p>
        </p:txBody>
      </p:sp>
      <p:sp>
        <p:nvSpPr>
          <p:cNvPr id="8" name="HangingIndent"/>
          <p:cNvSpPr/>
          <p:nvPr/>
        </p:nvSpPr>
        <p:spPr>
          <a:xfrm>
            <a:off x="8183880" y="2395728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00050" indent="-228600">
              <a:buNone/>
            </a:pPr>
            <a:r>
              <a:rPr lang="en-US" sz="1600" dirty="0">
                <a:solidFill>
                  <a:srgbClr val="111111"/>
                </a:solidFill>
              </a:rPr>
              <a:t>First: preserve the exact marker and text origin across wrapped lines.</a:t>
            </a:r>
            <a:endParaRPr lang="en-US" sz="1600" dirty="0"/>
          </a:p>
          <a:p>
            <a:pPr marL="400050" indent="-228600">
              <a:buNone/>
            </a:pPr>
            <a:r>
              <a:rPr lang="en-US" sz="1600" dirty="0">
                <a:solidFill>
                  <a:srgbClr val="111111"/>
                </a:solidFill>
              </a:rPr>
              <a:t>Second: retain the same hanging geometry after a hard break.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67160" y="651052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0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280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PRETEXT LAYOUT FIXTURE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11292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Script-aware wrapping changes the break opportunities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84048" y="1664208"/>
            <a:ext cx="3529584" cy="4114800"/>
          </a:xfrm>
          <a:prstGeom prst="roundRect">
            <a:avLst>
              <a:gd name="adj" fmla="val 1554"/>
            </a:avLst>
          </a:prstGeom>
          <a:solidFill>
            <a:srgbClr val="F5F7F9"/>
          </a:solidFill>
          <a:ln w="10160">
            <a:solidFill>
              <a:srgbClr val="C2C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9933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0"/>
                </a:solidFill>
              </a:rPr>
              <a:t>LATIN — keep words intact</a:t>
            </a:r>
            <a:endParaRPr lang="en-US" sz="1000" dirty="0"/>
          </a:p>
        </p:txBody>
      </p:sp>
      <p:sp>
        <p:nvSpPr>
          <p:cNvPr id="6" name="LatinText"/>
          <p:cNvSpPr/>
          <p:nvPr/>
        </p:nvSpPr>
        <p:spPr>
          <a:xfrm>
            <a:off x="585216" y="2578608"/>
            <a:ext cx="31272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latinLnBrk="0">
              <a:buNone/>
            </a:pPr>
            <a:r>
              <a:rPr lang="en-US" sz="1500" dirty="0">
                <a:solidFill>
                  <a:srgbClr val="111111"/>
                </a:solidFill>
              </a:rPr>
              <a:t>Internationalization requires predictable line breaking, even when a narrow text box contains exceptionallylongtechnicalidentifiers.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664208"/>
            <a:ext cx="3529584" cy="4114800"/>
          </a:xfrm>
          <a:prstGeom prst="roundRect">
            <a:avLst>
              <a:gd name="adj" fmla="val 1554"/>
            </a:avLst>
          </a:prstGeom>
          <a:solidFill>
            <a:srgbClr val="EAF5FC"/>
          </a:solidFill>
          <a:ln w="10160">
            <a:solidFill>
              <a:srgbClr val="C2C8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98848" y="19933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87FF"/>
                </a:solidFill>
              </a:rPr>
              <a:t>JAPANESE — East Asian breaks</a:t>
            </a:r>
            <a:endParaRPr lang="en-US" sz="1000" dirty="0"/>
          </a:p>
        </p:txBody>
      </p:sp>
      <p:sp>
        <p:nvSpPr>
          <p:cNvPr id="9" name="JapaneseText"/>
          <p:cNvSpPr/>
          <p:nvPr/>
        </p:nvSpPr>
        <p:spPr>
          <a:xfrm>
            <a:off x="4498848" y="2578608"/>
            <a:ext cx="31272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1" hangingPunct="1">
              <a:buNone/>
            </a:pPr>
            <a:r>
              <a:rPr sz="1500" dirty="0" lang="ja-JP" altLang="en-US" kern="1200">
                <a:latin typeface="Arial"/>
                <a:ea typeface="Yu Gothic"/>
                <a:solidFill>
                  <a:srgbClr val="111111"/>
                </a:solidFill>
              </a:rPr>
              <a:t>プレゼンテーションの文字組みでは、句読点や英数字を含む長い文章でも、自然な位置で折り返す必要があります。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11312" y="1664208"/>
            <a:ext cx="3529584" cy="4114800"/>
          </a:xfrm>
          <a:prstGeom prst="roundRect">
            <a:avLst>
              <a:gd name="adj" fmla="val 1554"/>
            </a:avLst>
          </a:prstGeom>
          <a:solidFill>
            <a:srgbClr val="F5F7F9"/>
          </a:solidFill>
          <a:ln w="10160">
            <a:solidFill>
              <a:srgbClr val="C2C8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19933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0"/>
                </a:solidFill>
              </a:rPr>
              <a:t>ARABIC — RTL + complex script</a:t>
            </a:r>
            <a:endParaRPr lang="en-US" sz="1000" dirty="0"/>
          </a:p>
        </p:txBody>
      </p:sp>
      <p:sp>
        <p:nvSpPr>
          <p:cNvPr id="12" name="ArabicText"/>
          <p:cNvSpPr/>
          <p:nvPr/>
        </p:nvSpPr>
        <p:spPr>
          <a:xfrm>
            <a:off x="8412480" y="2578608"/>
            <a:ext cx="31272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rtl="1">
              <a:buNone/>
            </a:pPr>
            <a:r>
              <a:rPr sz="1500" dirty="0" lang="ar-SA" kern="1200">
                <a:latin typeface="Arial"/>
                <a:cs typeface="Noto Naskh Arabic"/>
                <a:rtl/>
                <a:solidFill>
                  <a:srgbClr val="111111"/>
                </a:solidFill>
              </a:rPr>
              <a:t>اختبار الشرائح في النص العربي يتطلب اتجاه الكتابة الصحيح والخط المناسب والمحافظة على علامات الكلمات.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567160" y="651052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0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280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PRETEXT LAYOUT FIXTURE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11292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 and autofit depend on measured line results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84048" y="16642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87FF"/>
                </a:solidFill>
              </a:rPr>
              <a:t>TWO-COLUMN TEXT BODY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84048" y="1938528"/>
            <a:ext cx="5440680" cy="3840480"/>
          </a:xfrm>
          <a:prstGeom prst="roundRect">
            <a:avLst>
              <a:gd name="adj" fmla="val 1429"/>
            </a:avLst>
          </a:prstGeom>
          <a:solidFill>
            <a:srgbClr val="F5F7F9"/>
          </a:solidFill>
          <a:ln w="10160">
            <a:solidFill>
              <a:srgbClr val="C2C8D0"/>
            </a:solidFill>
            <a:prstDash val="solid"/>
          </a:ln>
        </p:spPr>
      </p:sp>
      <p:sp>
        <p:nvSpPr>
          <p:cNvPr id="6" name="TwoColumns"/>
          <p:cNvSpPr/>
          <p:nvPr/>
        </p:nvSpPr>
        <p:spPr>
          <a:xfrm>
            <a:off x="621792" y="2212848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 numCol="2" spcCol="182880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</a:rPr>
              <a:t>PowerPoint lays out a paragraph by combining the selected font, kerning, line-breaking rules, and the available width. When a line is justified, the remaining width is distributed across eligible spaces. Small metric differences accumulate across a sentence, changing both the final word position and the next wrap point. PowerPoint lays out a paragraph by combining the selected font, kerning, line-breaking rules, and the available width. When a line is justified, the remaining width is distributed across eligible spaces. Small metric differences accumulate across a sentence, changing both the final word position and the next wrap point.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27648" y="16642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87FF"/>
                </a:solidFill>
              </a:rPr>
              <a:t>NORMAL AUTOFIT — SAME BOX, LONG COPY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327648" y="1938528"/>
            <a:ext cx="5440680" cy="3840480"/>
          </a:xfrm>
          <a:prstGeom prst="roundRect">
            <a:avLst>
              <a:gd name="adj" fmla="val 1429"/>
            </a:avLst>
          </a:prstGeom>
          <a:solidFill>
            <a:srgbClr val="EAF5FC"/>
          </a:solidFill>
          <a:ln w="10160">
            <a:solidFill>
              <a:srgbClr val="C2C8D0"/>
            </a:solidFill>
            <a:prstDash val="solid"/>
          </a:ln>
        </p:spPr>
      </p:sp>
      <p:sp>
        <p:nvSpPr>
          <p:cNvPr id="9" name="NormalAutofit"/>
          <p:cNvSpPr/>
          <p:nvPr/>
        </p:nvSpPr>
        <p:spPr>
          <a:xfrm>
            <a:off x="6565392" y="2212848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8000" lnSpcReduction="12000"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PowerPoint lays out a paragraph by combining the selected font, kerning, line-breaking rules, and the available width. When a line is justified, the remaining width is distributed across eligible spaces. Small metric differences accumulate across a sentence, changing both the final word position and the next wrap point. PowerPoint lays out a paragraph by combining the selected font, kerning, line-breaking rules, and the available width. When a line is justified, the remaining width is distributed across eligible spaces. Small metric differences accumulate across a sentence, changing both the final word position and the next wrap point.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567160" y="651052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0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280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VIEWER LAYOUT — NOT NATIVE PPTX WRAP METADATA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84048" y="420624"/>
            <a:ext cx="11292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synthetic image exclusion shows the Pretext opportunity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920240" y="1499616"/>
            <a:ext cx="8366760" cy="4462272"/>
          </a:xfrm>
          <a:prstGeom prst="roundRect">
            <a:avLst>
              <a:gd name="adj" fmla="val 1230"/>
            </a:avLst>
          </a:prstGeom>
          <a:solidFill>
            <a:srgbClr val="F5F7F9"/>
          </a:solidFill>
          <a:ln w="10160">
            <a:solidFill>
              <a:srgbClr val="C2C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40280" y="184708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</a:rPr>
              <a:t>Pretext can route successive lines through different horizontal intervals while an image temporarily removes part of the available line width.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40280" y="2761488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</a:rPr>
              <a:t>Lines beside the image use a narrower interval without inserting manual source breaks.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2724912"/>
            <a:ext cx="2487168" cy="1737360"/>
          </a:xfrm>
          <a:prstGeom prst="rect">
            <a:avLst/>
          </a:prstGeom>
          <a:solidFill>
            <a:srgbClr val="1B1831"/>
          </a:solidFill>
          <a:ln w="12700">
            <a:solidFill>
              <a:srgbClr val="1B18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4920" y="32735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IMAGE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EXCLUSION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35240" y="2761488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</a:rPr>
              <a:t>The same logical line can continue in a second interval when the layout policy allows fragmented rows.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40280" y="4892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The PPTX uses separate boxes only to illustrate the target geometry.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567160" y="651052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0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411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0"/>
                </a:solidFill>
              </a:rPr>
              <a:t>PASS CRITERIA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84048" y="251460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11111"/>
                </a:solidFill>
              </a:rPr>
              <a:t>The words finish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111111"/>
                </a:solidFill>
              </a:rPr>
              <a:t>where PowerPoint puts them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84048" y="482803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</a:rPr>
              <a:t>Same line count  •  Same wrap words  •  Same final line width  •  Same column break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Extend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Pretext layout stress deck</dc:title>
  <dc:subject>PowerPoint text-layout regression fixture</dc:subject>
  <dc:creator>react-pptx</dc:creator>
  <cp:lastModifiedBy>react-pptx</cp:lastModifiedBy>
  <cp:revision>1</cp:revision>
  <dcterms:created xsi:type="dcterms:W3CDTF">2026-07-16T14:19:16Z</dcterms:created>
  <dcterms:modified xsi:type="dcterms:W3CDTF">2026-07-16T14:19:16Z</dcterms:modified>
</cp:coreProperties>
</file>